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6" r:id="rId3"/>
    <p:sldId id="452" r:id="rId4"/>
    <p:sldId id="436" r:id="rId5"/>
    <p:sldId id="440" r:id="rId6"/>
    <p:sldId id="456" r:id="rId7"/>
    <p:sldId id="442" r:id="rId8"/>
    <p:sldId id="445" r:id="rId9"/>
    <p:sldId id="438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Osaka"/>
        <a:cs typeface="Osaka"/>
      </a:defRPr>
    </a:lvl9pPr>
  </p:defaultTextStyle>
  <p:extLst>
    <p:ext uri="{521415D9-36F7-43E2-AB2F-B90AF26B5E84}">
      <p14:sectionLst xmlns:p14="http://schemas.microsoft.com/office/powerpoint/2010/main">
        <p14:section name="Default Section" id="{03896B2C-697A-4DBC-9287-65D084D9A237}">
          <p14:sldIdLst>
            <p14:sldId id="256"/>
            <p14:sldId id="452"/>
            <p14:sldId id="436"/>
            <p14:sldId id="440"/>
            <p14:sldId id="456"/>
            <p14:sldId id="442"/>
            <p14:sldId id="445"/>
            <p14:sldId id="43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F2CC"/>
    <a:srgbClr val="B97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BF187-B051-45D5-A779-613EE8F524F6}" v="7" dt="2026-01-15T21:20:47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96498" autoAdjust="0"/>
  </p:normalViewPr>
  <p:slideViewPr>
    <p:cSldViewPr snapToGrid="0">
      <p:cViewPr varScale="1">
        <p:scale>
          <a:sx n="82" d="100"/>
          <a:sy n="82" d="100"/>
        </p:scale>
        <p:origin x="1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31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or, Brian" userId="fc258b53-8667-44ab-8c83-31e3dbee2cd2" providerId="ADAL" clId="{E3809A40-563F-4964-9F50-D9B8C9DAB960}"/>
    <pc:docChg chg="undo custSel modSld">
      <pc:chgData name="Gregor, Brian" userId="fc258b53-8667-44ab-8c83-31e3dbee2cd2" providerId="ADAL" clId="{E3809A40-563F-4964-9F50-D9B8C9DAB960}" dt="2026-01-15T21:21:25.469" v="109" actId="113"/>
      <pc:docMkLst>
        <pc:docMk/>
      </pc:docMkLst>
      <pc:sldChg chg="modSp mod">
        <pc:chgData name="Gregor, Brian" userId="fc258b53-8667-44ab-8c83-31e3dbee2cd2" providerId="ADAL" clId="{E3809A40-563F-4964-9F50-D9B8C9DAB960}" dt="2026-01-15T21:19:23.490" v="4" actId="6549"/>
        <pc:sldMkLst>
          <pc:docMk/>
          <pc:sldMk cId="2036413861" sldId="256"/>
        </pc:sldMkLst>
        <pc:spChg chg="mod">
          <ac:chgData name="Gregor, Brian" userId="fc258b53-8667-44ab-8c83-31e3dbee2cd2" providerId="ADAL" clId="{E3809A40-563F-4964-9F50-D9B8C9DAB960}" dt="2026-01-15T21:19:19.580" v="3" actId="20577"/>
          <ac:spMkLst>
            <pc:docMk/>
            <pc:sldMk cId="2036413861" sldId="256"/>
            <ac:spMk id="2" creationId="{00000000-0000-0000-0000-000000000000}"/>
          </ac:spMkLst>
        </pc:spChg>
        <pc:spChg chg="mod">
          <ac:chgData name="Gregor, Brian" userId="fc258b53-8667-44ab-8c83-31e3dbee2cd2" providerId="ADAL" clId="{E3809A40-563F-4964-9F50-D9B8C9DAB960}" dt="2026-01-15T21:19:23.490" v="4" actId="6549"/>
          <ac:spMkLst>
            <pc:docMk/>
            <pc:sldMk cId="2036413861" sldId="256"/>
            <ac:spMk id="3" creationId="{00000000-0000-0000-0000-000000000000}"/>
          </ac:spMkLst>
        </pc:spChg>
      </pc:sldChg>
      <pc:sldChg chg="addSp modSp mod">
        <pc:chgData name="Gregor, Brian" userId="fc258b53-8667-44ab-8c83-31e3dbee2cd2" providerId="ADAL" clId="{E3809A40-563F-4964-9F50-D9B8C9DAB960}" dt="2026-01-15T21:21:07.122" v="108" actId="20577"/>
        <pc:sldMkLst>
          <pc:docMk/>
          <pc:sldMk cId="1409885051" sldId="440"/>
        </pc:sldMkLst>
        <pc:spChg chg="add mod">
          <ac:chgData name="Gregor, Brian" userId="fc258b53-8667-44ab-8c83-31e3dbee2cd2" providerId="ADAL" clId="{E3809A40-563F-4964-9F50-D9B8C9DAB960}" dt="2026-01-15T21:21:07.122" v="108" actId="20577"/>
          <ac:spMkLst>
            <pc:docMk/>
            <pc:sldMk cId="1409885051" sldId="440"/>
            <ac:spMk id="2" creationId="{EA351BB1-27D6-7C02-E4F1-CFA62B24B527}"/>
          </ac:spMkLst>
        </pc:spChg>
        <pc:spChg chg="mod">
          <ac:chgData name="Gregor, Brian" userId="fc258b53-8667-44ab-8c83-31e3dbee2cd2" providerId="ADAL" clId="{E3809A40-563F-4964-9F50-D9B8C9DAB960}" dt="2026-01-15T21:20:21.653" v="28" actId="14100"/>
          <ac:spMkLst>
            <pc:docMk/>
            <pc:sldMk cId="1409885051" sldId="440"/>
            <ac:spMk id="3" creationId="{3BD53B26-68F3-9A0C-A422-2FCD0A342301}"/>
          </ac:spMkLst>
        </pc:spChg>
        <pc:picChg chg="mod">
          <ac:chgData name="Gregor, Brian" userId="fc258b53-8667-44ab-8c83-31e3dbee2cd2" providerId="ADAL" clId="{E3809A40-563F-4964-9F50-D9B8C9DAB960}" dt="2026-01-15T21:19:57.018" v="18" actId="1076"/>
          <ac:picMkLst>
            <pc:docMk/>
            <pc:sldMk cId="1409885051" sldId="440"/>
            <ac:picMk id="1026" creationId="{A3BFC947-B24E-4CEA-B436-E040DFD9B239}"/>
          </ac:picMkLst>
        </pc:picChg>
      </pc:sldChg>
      <pc:sldChg chg="modSp mod">
        <pc:chgData name="Gregor, Brian" userId="fc258b53-8667-44ab-8c83-31e3dbee2cd2" providerId="ADAL" clId="{E3809A40-563F-4964-9F50-D9B8C9DAB960}" dt="2026-01-15T21:19:40.820" v="17" actId="20577"/>
        <pc:sldMkLst>
          <pc:docMk/>
          <pc:sldMk cId="4112971238" sldId="452"/>
        </pc:sldMkLst>
        <pc:spChg chg="mod">
          <ac:chgData name="Gregor, Brian" userId="fc258b53-8667-44ab-8c83-31e3dbee2cd2" providerId="ADAL" clId="{E3809A40-563F-4964-9F50-D9B8C9DAB960}" dt="2026-01-15T21:19:40.820" v="17" actId="20577"/>
          <ac:spMkLst>
            <pc:docMk/>
            <pc:sldMk cId="4112971238" sldId="452"/>
            <ac:spMk id="10" creationId="{59635101-C5CA-0CEA-BF6E-6B456E37AE6A}"/>
          </ac:spMkLst>
        </pc:spChg>
      </pc:sldChg>
      <pc:sldChg chg="modSp mod">
        <pc:chgData name="Gregor, Brian" userId="fc258b53-8667-44ab-8c83-31e3dbee2cd2" providerId="ADAL" clId="{E3809A40-563F-4964-9F50-D9B8C9DAB960}" dt="2026-01-15T21:21:25.469" v="109" actId="113"/>
        <pc:sldMkLst>
          <pc:docMk/>
          <pc:sldMk cId="4136822058" sldId="456"/>
        </pc:sldMkLst>
        <pc:spChg chg="mod">
          <ac:chgData name="Gregor, Brian" userId="fc258b53-8667-44ab-8c83-31e3dbee2cd2" providerId="ADAL" clId="{E3809A40-563F-4964-9F50-D9B8C9DAB960}" dt="2026-01-15T21:21:25.469" v="109" actId="113"/>
          <ac:spMkLst>
            <pc:docMk/>
            <pc:sldMk cId="4136822058" sldId="456"/>
            <ac:spMk id="3" creationId="{B02D8CA7-2D7D-4F32-2906-EF126C46FB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FEF1B-7C66-4172-9801-FE8F49143F1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37E9D-9325-4C24-A888-5868C7767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 hour hands-on intro to Python for physics REU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237E9D-9325-4C24-A888-5868C77674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2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/>
              <a:t>Construction 2011-2012, officially opened in Nov. 2012.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430F2-88EE-4AA3-94A8-87A45F779B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6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37E9D-9325-4C24-A888-5868C77674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2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0" y="-76200"/>
            <a:ext cx="12192000" cy="5791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33333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US" sz="180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US" sz="1800"/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0" y="5638800"/>
            <a:ext cx="12192000" cy="0"/>
          </a:xfrm>
          <a:prstGeom prst="line">
            <a:avLst/>
          </a:prstGeom>
          <a:noFill/>
          <a:ln w="63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1" y="6019801"/>
            <a:ext cx="129116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00200"/>
            <a:ext cx="10363200" cy="1143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00400"/>
            <a:ext cx="8534400" cy="1752600"/>
          </a:xfrm>
        </p:spPr>
        <p:txBody>
          <a:bodyPr/>
          <a:lstStyle>
            <a:lvl1pPr marL="0" indent="0" algn="ctr">
              <a:buFont typeface="Wingdings" pitchFamily="-64" charset="2"/>
              <a:buNone/>
              <a:defRPr>
                <a:solidFill>
                  <a:srgbClr val="CCCCCC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6643312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460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57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828800"/>
            <a:ext cx="5181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181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2738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2961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5621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73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6575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8677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385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762000"/>
            <a:ext cx="26416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762000"/>
            <a:ext cx="7721600" cy="4953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3685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D4DB2-1EDA-49CC-8243-0366DE93E1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5609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81DF5-FA32-44A2-A499-DC6613F58D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3124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0177E-E6CE-4485-A918-25EBADE37D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4705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2A0C2-C681-48F0-9675-7738F5803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9742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23937-E89E-42E9-B05E-23DCE3DD3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260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ECB5E-4F2F-4F34-ACCD-C45478901D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7115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F6B75-2CBA-4C55-92AD-ADFC33756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667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9EB4A-CA85-41D6-9437-6CE20D46E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3745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E931-CE76-4006-90BA-896AF17FD0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4940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0ACDB-1B3C-482F-B8F2-A678589D1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4650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2CBB0-64A5-4581-BD54-739AF78EC4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5770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B5F3B-D066-4600-BBAB-6A716DEF99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089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/>
        </p:nvSpPr>
        <p:spPr bwMode="auto">
          <a:xfrm>
            <a:off x="0" y="-42863"/>
            <a:ext cx="12192000" cy="347663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US" sz="180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This is the title of this slide.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828800"/>
            <a:ext cx="10566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2800" y="0"/>
            <a:ext cx="680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bg1"/>
                </a:solidFill>
                <a:latin typeface="+mn-lt"/>
                <a:ea typeface="Osaka" pitchFamily="-64" charset="-128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48800" y="5903913"/>
            <a:ext cx="193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0" rIns="9144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4400" b="1">
                <a:solidFill>
                  <a:srgbClr val="D9D9D9"/>
                </a:solidFill>
                <a:latin typeface="+mn-lt"/>
                <a:ea typeface="Osaka" pitchFamily="-64" charset="-128"/>
                <a:cs typeface="+mn-cs"/>
              </a:defRPr>
            </a:lvl1pPr>
          </a:lstStyle>
          <a:p>
            <a:fld id="{109CB268-4E0A-4A28-8082-76D581048D5E}" type="slidenum">
              <a:rPr lang="en-US" smtClean="0"/>
              <a:t>‹#›</a:t>
            </a:fld>
            <a:endParaRPr lang="en-US"/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39200" y="0"/>
            <a:ext cx="2540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808080"/>
                </a:solidFill>
                <a:latin typeface="+mn-lt"/>
                <a:ea typeface="Osaka" pitchFamily="-64" charset="-128"/>
                <a:cs typeface="+mn-cs"/>
              </a:defRPr>
            </a:lvl1pPr>
          </a:lstStyle>
          <a:p>
            <a:fld id="{EA474AE0-3EDA-40AA-BA5F-3A3DEFA5A680}" type="datetimeFigureOut">
              <a:rPr lang="en-US" smtClean="0"/>
              <a:t>1/15/2026</a:t>
            </a:fld>
            <a:endParaRPr lang="en-US"/>
          </a:p>
        </p:txBody>
      </p:sp>
      <p:pic>
        <p:nvPicPr>
          <p:cNvPr id="1032" name="Picture 1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42" y="6154738"/>
            <a:ext cx="129116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634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Osak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  <a:cs typeface="Osaka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  <a:cs typeface="Osaka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  <a:cs typeface="Osaka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  <a:cs typeface="Osaka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Osaka" pitchFamily="-6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Osaka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Osak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Osak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Osak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Osak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-64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-64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-64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2675B4"/>
        </a:buClr>
        <a:buFont typeface="Wingdings" pitchFamily="-64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" pitchFamily="-64" charset="0"/>
                <a:ea typeface="Osaka" pitchFamily="-64" charset="-128"/>
                <a:cs typeface="+mn-cs"/>
              </a:defRPr>
            </a:lvl1pPr>
          </a:lstStyle>
          <a:p>
            <a:pPr>
              <a:defRPr/>
            </a:pPr>
            <a:fld id="{F4CC1432-5143-4B03-BE33-0141D774999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" pitchFamily="-64" charset="0"/>
                <a:ea typeface="Osaka" pitchFamily="-6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" pitchFamily="-64" charset="0"/>
                <a:ea typeface="Osaka" pitchFamily="-64" charset="-128"/>
                <a:cs typeface="+mn-cs"/>
              </a:defRPr>
            </a:lvl1pPr>
          </a:lstStyle>
          <a:p>
            <a:pPr>
              <a:defRPr/>
            </a:pPr>
            <a:fld id="{8C21B9DE-BAC4-4BA4-9677-2003439B08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2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ngimg.com/png/66934-map-google-pin-icons-maps-computer-maker" TargetMode="External"/><Relationship Id="rId3" Type="http://schemas.openxmlformats.org/officeDocument/2006/relationships/hyperlink" Target="https://www.mghpcc.org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bu.edu/tech/support/research/" TargetMode="External"/><Relationship Id="rId4" Type="http://schemas.openxmlformats.org/officeDocument/2006/relationships/hyperlink" Target="https://maps.app.goo.gl/eTTm4iCA4JFxTH5w9" TargetMode="Externa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cc-ondemand.bu.ed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.edu/tech/services/infrastructure/networks/wireless/eduroam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u.edu/tech/support/research/system-usage/using-file-system/storage-quotas/#HOMEDIR_FULL" TargetMode="External"/><Relationship Id="rId3" Type="http://schemas.openxmlformats.org/officeDocument/2006/relationships/hyperlink" Target="https://www.bu.edu/tech/support/research/system-usage/connect-scc/scc-ondemand/" TargetMode="External"/><Relationship Id="rId7" Type="http://schemas.openxmlformats.org/officeDocument/2006/relationships/hyperlink" Target="https://scv.bu.edu/documents/SCC_CheatSheet.pdf" TargetMode="External"/><Relationship Id="rId2" Type="http://schemas.openxmlformats.org/officeDocument/2006/relationships/hyperlink" Target="https://www.bu.edu/tech/support/research/system-usage/transferring-files/desktop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scv.bu.edu/documents/Linux_SCC_CheatSheet.pdf" TargetMode="External"/><Relationship Id="rId5" Type="http://schemas.openxmlformats.org/officeDocument/2006/relationships/hyperlink" Target="http://scv.bu.edu/documents/SCC_GettingStarted.pdf" TargetMode="External"/><Relationship Id="rId4" Type="http://schemas.openxmlformats.org/officeDocument/2006/relationships/hyperlink" Target="https://www.bu.edu/tech/support/research/system-usage/running-jobs/submitting-jobs/" TargetMode="External"/><Relationship Id="rId9" Type="http://schemas.openxmlformats.org/officeDocument/2006/relationships/hyperlink" Target="https://www.bu.edu/tech/contact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the SCC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707476"/>
            <a:ext cx="8534400" cy="1245524"/>
          </a:xfrm>
        </p:spPr>
        <p:txBody>
          <a:bodyPr/>
          <a:lstStyle/>
          <a:p>
            <a:r>
              <a:rPr lang="en-US" dirty="0"/>
              <a:t>)</a:t>
            </a:r>
          </a:p>
          <a:p>
            <a:r>
              <a:rPr lang="en-US" dirty="0"/>
              <a:t>Research Computing Services</a:t>
            </a:r>
          </a:p>
          <a:p>
            <a:r>
              <a:rPr lang="en-US" dirty="0"/>
              <a:t>https://rcs.bu.edu</a:t>
            </a:r>
          </a:p>
          <a:p>
            <a:r>
              <a:rPr lang="en-US" dirty="0"/>
              <a:t>Information Services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203641386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635101-C5CA-0CEA-BF6E-6B456E37AE6A}"/>
              </a:ext>
            </a:extLst>
          </p:cNvPr>
          <p:cNvSpPr txBox="1">
            <a:spLocks/>
          </p:cNvSpPr>
          <p:nvPr/>
        </p:nvSpPr>
        <p:spPr bwMode="auto">
          <a:xfrm>
            <a:off x="295552" y="1655233"/>
            <a:ext cx="5448092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kern="0" dirty="0"/>
              <a:t>Located at the </a:t>
            </a:r>
            <a:r>
              <a:rPr lang="en-US" sz="2000" kern="0" dirty="0">
                <a:hlinkClick r:id="rId3"/>
              </a:rPr>
              <a:t>MGHPCC</a:t>
            </a:r>
            <a:r>
              <a:rPr lang="en-US" sz="2000" kern="0" dirty="0"/>
              <a:t> in </a:t>
            </a:r>
            <a:r>
              <a:rPr lang="en-US" sz="2000" kern="0" dirty="0">
                <a:hlinkClick r:id="rId4"/>
              </a:rPr>
              <a:t>Holyoke, Massachusetts</a:t>
            </a:r>
            <a:r>
              <a:rPr lang="en-US" sz="2000" kern="0" dirty="0"/>
              <a:t>.</a:t>
            </a:r>
          </a:p>
          <a:p>
            <a:pPr lvl="1"/>
            <a:r>
              <a:rPr lang="en-US" sz="2000" kern="0" dirty="0"/>
              <a:t>Alongside clusters from Harvard, MIT, NU, </a:t>
            </a:r>
            <a:r>
              <a:rPr lang="en-US" sz="2000" kern="0" dirty="0" err="1"/>
              <a:t>Umass</a:t>
            </a:r>
            <a:r>
              <a:rPr lang="en-US" sz="2000" kern="0" dirty="0"/>
              <a:t>, URI, and Yale</a:t>
            </a:r>
          </a:p>
          <a:p>
            <a:endParaRPr lang="en-US" sz="2000" kern="0" dirty="0"/>
          </a:p>
          <a:p>
            <a:r>
              <a:rPr lang="en-US" sz="2000" kern="0" dirty="0"/>
              <a:t>1070 compute nodes (servers)</a:t>
            </a:r>
          </a:p>
          <a:p>
            <a:pPr lvl="1"/>
            <a:r>
              <a:rPr lang="en-US" sz="1800" kern="0" dirty="0"/>
              <a:t>&gt;30,000 CPU cores</a:t>
            </a:r>
          </a:p>
          <a:p>
            <a:pPr lvl="1"/>
            <a:r>
              <a:rPr lang="en-US" sz="1800" kern="0" dirty="0"/>
              <a:t>&gt;500 GPUs</a:t>
            </a:r>
          </a:p>
          <a:p>
            <a:pPr lvl="1"/>
            <a:r>
              <a:rPr lang="en-US" sz="1800" kern="0" dirty="0"/>
              <a:t>~16.6 PB of storage</a:t>
            </a:r>
          </a:p>
          <a:p>
            <a:pPr lvl="1"/>
            <a:endParaRPr lang="en-US" sz="1800" kern="0" dirty="0"/>
          </a:p>
          <a:p>
            <a:endParaRPr lang="en-US" sz="1800" kern="0" dirty="0"/>
          </a:p>
          <a:p>
            <a:pPr lvl="1"/>
            <a:endParaRPr lang="en-US" sz="1800" kern="0" dirty="0"/>
          </a:p>
          <a:p>
            <a:pPr marL="457200" lvl="1" indent="0">
              <a:buNone/>
            </a:pPr>
            <a:endParaRPr lang="en-US" sz="2000" kern="0" dirty="0"/>
          </a:p>
          <a:p>
            <a:endParaRPr lang="en-US" sz="2000" kern="0" dirty="0"/>
          </a:p>
          <a:p>
            <a:endParaRPr lang="en-US" sz="2000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F72E65-7725-37C3-6C8A-9BB5ADDC9F7F}"/>
              </a:ext>
            </a:extLst>
          </p:cNvPr>
          <p:cNvSpPr txBox="1">
            <a:spLocks/>
          </p:cNvSpPr>
          <p:nvPr/>
        </p:nvSpPr>
        <p:spPr bwMode="auto">
          <a:xfrm>
            <a:off x="295552" y="4987350"/>
            <a:ext cx="5448092" cy="1465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kern="0" dirty="0"/>
              <a:t>BU’s</a:t>
            </a:r>
            <a:r>
              <a:rPr lang="en-US" sz="2000" u="sng" kern="0" dirty="0"/>
              <a:t> </a:t>
            </a:r>
            <a:r>
              <a:rPr lang="en-US" sz="2000" kern="0" dirty="0">
                <a:hlinkClick r:id="rId5"/>
              </a:rPr>
              <a:t>Research Computing Services</a:t>
            </a:r>
            <a:r>
              <a:rPr lang="en-US" sz="2000" kern="0" dirty="0"/>
              <a:t> group maintains the BU SCC.</a:t>
            </a:r>
          </a:p>
          <a:p>
            <a:pPr marL="457200" lvl="1" indent="0">
              <a:buNone/>
            </a:pPr>
            <a:endParaRPr lang="en-US" sz="2000" kern="0" dirty="0"/>
          </a:p>
          <a:p>
            <a:endParaRPr lang="en-US" sz="2000" kern="0" dirty="0"/>
          </a:p>
          <a:p>
            <a:endParaRPr lang="en-US" sz="200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507B0-496E-AD27-BB5F-12A2E89A5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488" y="3806807"/>
            <a:ext cx="4659768" cy="29636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A528BE-058A-0503-7583-205B20797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678600"/>
            <a:ext cx="10566400" cy="685800"/>
          </a:xfrm>
        </p:spPr>
        <p:txBody>
          <a:bodyPr/>
          <a:lstStyle/>
          <a:p>
            <a:r>
              <a:rPr lang="en-US" dirty="0"/>
              <a:t>BU Shared Computing Cluster (SCC)</a:t>
            </a:r>
          </a:p>
        </p:txBody>
      </p:sp>
      <p:pic>
        <p:nvPicPr>
          <p:cNvPr id="7" name="Content Placeholder 6" descr="A red and white pin&#10;&#10;Description automatically generated">
            <a:extLst>
              <a:ext uri="{FF2B5EF4-FFF2-40B4-BE49-F238E27FC236}">
                <a16:creationId xmlns:a16="http://schemas.microsoft.com/office/drawing/2014/main" id="{7F0433B7-E25E-E53B-9563-3EA2DCC9C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304600" y="4461651"/>
            <a:ext cx="192124" cy="310896"/>
          </a:xfrm>
        </p:spPr>
      </p:pic>
      <p:pic>
        <p:nvPicPr>
          <p:cNvPr id="9" name="Content Placeholder 6" descr="A red and white pin&#10;&#10;Description automatically generated">
            <a:extLst>
              <a:ext uri="{FF2B5EF4-FFF2-40B4-BE49-F238E27FC236}">
                <a16:creationId xmlns:a16="http://schemas.microsoft.com/office/drawing/2014/main" id="{BDE4E35B-36CA-99D8-863F-D34201CD17F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 bwMode="auto">
          <a:xfrm>
            <a:off x="8311324" y="4694742"/>
            <a:ext cx="192124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983D80-7E0E-CBFB-2580-65D7E245E971}"/>
              </a:ext>
            </a:extLst>
          </p:cNvPr>
          <p:cNvSpPr txBox="1"/>
          <p:nvPr/>
        </p:nvSpPr>
        <p:spPr>
          <a:xfrm>
            <a:off x="6615289" y="4447822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46A01-B017-48F5-71B2-8C2A2C5594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1500" y="1569387"/>
            <a:ext cx="3722196" cy="209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712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0C3D-3A7A-4895-B714-227ABF78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SCC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AFE6-D38A-4067-82FA-C6F4A9104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SCC OnDemand is the easiest way to access the SCC: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Google Chrome is the recommended browser</a:t>
            </a:r>
          </a:p>
          <a:p>
            <a:pPr lvl="1"/>
            <a:r>
              <a:rPr lang="en-US" dirty="0"/>
              <a:t>This browser properly handles copy &amp; paste in OnDemand Desktops.</a:t>
            </a:r>
          </a:p>
          <a:p>
            <a:pPr lvl="1"/>
            <a:endParaRPr lang="en-US" dirty="0"/>
          </a:p>
          <a:p>
            <a:r>
              <a:rPr lang="en-US" dirty="0"/>
              <a:t>Beyond interactive use: </a:t>
            </a:r>
          </a:p>
          <a:p>
            <a:pPr lvl="1"/>
            <a:r>
              <a:rPr lang="en-US" dirty="0"/>
              <a:t>You can create and submit non-interactive “batch” jobs to the cluster job queue.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7273B-84D4-6610-AC9C-C1B721CBD4BA}"/>
              </a:ext>
            </a:extLst>
          </p:cNvPr>
          <p:cNvSpPr txBox="1"/>
          <p:nvPr/>
        </p:nvSpPr>
        <p:spPr>
          <a:xfrm>
            <a:off x="2947225" y="2690676"/>
            <a:ext cx="629754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https://scc-ondemand.bu.edu</a:t>
            </a:r>
            <a:endParaRPr lang="en-US" sz="3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50288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3B26-68F3-9A0C-A422-2FCD0A342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351" y="4129950"/>
            <a:ext cx="4929023" cy="2517035"/>
          </a:xfrm>
        </p:spPr>
        <p:txBody>
          <a:bodyPr/>
          <a:lstStyle/>
          <a:p>
            <a:r>
              <a:rPr lang="en-US" b="1" dirty="0"/>
              <a:t>Do not use the “BU Guest” </a:t>
            </a:r>
            <a:r>
              <a:rPr lang="en-US" b="1" dirty="0" err="1"/>
              <a:t>WiFi</a:t>
            </a:r>
            <a:r>
              <a:rPr lang="en-US" b="1" dirty="0"/>
              <a:t> network to access OnDemand.</a:t>
            </a:r>
          </a:p>
          <a:p>
            <a:pPr lvl="1"/>
            <a:r>
              <a:rPr lang="en-US" dirty="0"/>
              <a:t>The interface will break, and it will be unusable.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BFC947-B24E-4CEA-B436-E040DFD9B2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4" r="5666"/>
          <a:stretch/>
        </p:blipFill>
        <p:spPr bwMode="auto">
          <a:xfrm>
            <a:off x="2408765" y="367387"/>
            <a:ext cx="6908267" cy="351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351BB1-27D6-7C02-E4F1-CFA62B24B527}"/>
              </a:ext>
            </a:extLst>
          </p:cNvPr>
          <p:cNvSpPr txBox="1">
            <a:spLocks/>
          </p:cNvSpPr>
          <p:nvPr/>
        </p:nvSpPr>
        <p:spPr bwMode="auto">
          <a:xfrm>
            <a:off x="6595626" y="4129950"/>
            <a:ext cx="4929023" cy="2259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b="1" kern="0" dirty="0"/>
              <a:t>Use the </a:t>
            </a:r>
            <a:r>
              <a:rPr lang="en-US" b="1" i="1" kern="0" dirty="0" err="1">
                <a:hlinkClick r:id="rId3"/>
              </a:rPr>
              <a:t>eduroam</a:t>
            </a:r>
            <a:r>
              <a:rPr lang="en-US" b="1" i="1" kern="0" dirty="0"/>
              <a:t> </a:t>
            </a:r>
            <a:r>
              <a:rPr lang="en-US" b="1" kern="0" dirty="0" err="1"/>
              <a:t>WiFi</a:t>
            </a:r>
            <a:r>
              <a:rPr lang="en-US" b="1" kern="0" dirty="0"/>
              <a:t> network </a:t>
            </a:r>
            <a:endParaRPr lang="en-US" kern="0" dirty="0"/>
          </a:p>
          <a:p>
            <a:pPr lvl="1"/>
            <a:r>
              <a:rPr lang="en-US" sz="1800" kern="0" dirty="0"/>
              <a:t>Or, even better, a wired Ethernet connection in a BU office or dorm room.</a:t>
            </a:r>
          </a:p>
        </p:txBody>
      </p:sp>
    </p:spTree>
    <p:extLst>
      <p:ext uri="{BB962C8B-B14F-4D97-AF65-F5344CB8AC3E}">
        <p14:creationId xmlns:p14="http://schemas.microsoft.com/office/powerpoint/2010/main" val="140988505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3550-D5B2-A5C2-351A-C373ECA2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to RCS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8CA7-2D7D-4F32-2906-EF126C46FB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>
                <a:hlinkClick r:id="rId2"/>
              </a:rPr>
              <a:t>File transfers</a:t>
            </a:r>
            <a:r>
              <a:rPr lang="en-US" sz="2000" dirty="0"/>
              <a:t> to/from your own computer.</a:t>
            </a:r>
          </a:p>
          <a:p>
            <a:endParaRPr lang="en-US" sz="2000" dirty="0"/>
          </a:p>
          <a:p>
            <a:r>
              <a:rPr lang="en-US" sz="2000" dirty="0">
                <a:hlinkClick r:id="rId3"/>
              </a:rPr>
              <a:t>OnDemand</a:t>
            </a:r>
            <a:r>
              <a:rPr lang="en-US" sz="2000" dirty="0"/>
              <a:t> documentation</a:t>
            </a:r>
          </a:p>
          <a:p>
            <a:endParaRPr lang="en-US" sz="2000" dirty="0"/>
          </a:p>
          <a:p>
            <a:r>
              <a:rPr lang="en-US" sz="2000" dirty="0">
                <a:hlinkClick r:id="rId4"/>
              </a:rPr>
              <a:t>Batch</a:t>
            </a:r>
            <a:r>
              <a:rPr lang="en-US" sz="2000" dirty="0"/>
              <a:t> (non-interactive) Jobs</a:t>
            </a:r>
          </a:p>
          <a:p>
            <a:endParaRPr lang="en-US" sz="2000" dirty="0"/>
          </a:p>
          <a:p>
            <a:r>
              <a:rPr lang="en-US" sz="2000" b="1" dirty="0">
                <a:hlinkClick r:id="rId5"/>
              </a:rPr>
              <a:t>Linux guide</a:t>
            </a:r>
            <a:r>
              <a:rPr lang="en-US" sz="2000" b="1" dirty="0"/>
              <a:t> for SCC users.</a:t>
            </a:r>
          </a:p>
          <a:p>
            <a:r>
              <a:rPr lang="en-US" sz="2000" b="1" dirty="0"/>
              <a:t>Linux usage </a:t>
            </a:r>
            <a:r>
              <a:rPr lang="en-US" sz="2000" b="1" dirty="0">
                <a:hlinkClick r:id="rId6"/>
              </a:rPr>
              <a:t>quick reference</a:t>
            </a:r>
            <a:r>
              <a:rPr lang="en-US" sz="2000" b="1" dirty="0"/>
              <a:t>.</a:t>
            </a:r>
          </a:p>
          <a:p>
            <a:r>
              <a:rPr lang="en-US" sz="2000" b="1" dirty="0"/>
              <a:t>Quick reference for </a:t>
            </a:r>
            <a:r>
              <a:rPr lang="en-US" sz="2000" b="1" dirty="0">
                <a:hlinkClick r:id="rId7"/>
              </a:rPr>
              <a:t>SCC commands</a:t>
            </a:r>
            <a:r>
              <a:rPr lang="en-US" sz="2000" b="1" dirty="0"/>
              <a:t>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279F2-1B3D-327C-96AC-8D69A4D718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Home directory quota (just 10GB) is full? </a:t>
            </a:r>
            <a:r>
              <a:rPr lang="en-US" sz="2000" dirty="0">
                <a:hlinkClick r:id="rId8"/>
              </a:rPr>
              <a:t>Start here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If your professor and/or TA has asked you to submit a help ticket to us, fill out the </a:t>
            </a:r>
            <a:r>
              <a:rPr lang="en-US" sz="2000" dirty="0">
                <a:hlinkClick r:id="rId9"/>
              </a:rPr>
              <a:t>form here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Choose “Research Computing” in each box, then describe your problem in as much detail as you can.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68220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959C-983F-1C24-6E58-7D914B4A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OnDemand 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87FFB-352A-6D29-F20B-0F9BFAAC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828800"/>
            <a:ext cx="5608548" cy="3886200"/>
          </a:xfrm>
        </p:spPr>
        <p:txBody>
          <a:bodyPr/>
          <a:lstStyle/>
          <a:p>
            <a:r>
              <a:rPr lang="en-US" dirty="0"/>
              <a:t>Load the </a:t>
            </a:r>
            <a:r>
              <a:rPr lang="en-US" b="1" dirty="0" err="1"/>
              <a:t>miniconda</a:t>
            </a:r>
            <a:r>
              <a:rPr lang="en-US" dirty="0"/>
              <a:t> and </a:t>
            </a:r>
            <a:br>
              <a:rPr lang="en-US" dirty="0"/>
            </a:br>
            <a:r>
              <a:rPr lang="en-US" b="1" dirty="0"/>
              <a:t>academic-ml/fall-2025 </a:t>
            </a:r>
            <a:r>
              <a:rPr lang="en-US" dirty="0"/>
              <a:t>modules</a:t>
            </a:r>
          </a:p>
          <a:p>
            <a:r>
              <a:rPr lang="en-US" dirty="0"/>
              <a:t>Pre-launch command:</a:t>
            </a:r>
          </a:p>
          <a:p>
            <a:pPr lvl="1"/>
            <a:r>
              <a:rPr lang="en-US" b="1" dirty="0" err="1"/>
              <a:t>conda</a:t>
            </a:r>
            <a:r>
              <a:rPr lang="en-US" b="1" dirty="0"/>
              <a:t> activate fall-2025-pyt</a:t>
            </a:r>
          </a:p>
          <a:p>
            <a:pPr lvl="1"/>
            <a:r>
              <a:rPr lang="en-US" dirty="0"/>
              <a:t>This is a </a:t>
            </a:r>
            <a:r>
              <a:rPr lang="en-US" dirty="0" err="1"/>
              <a:t>PyTorch</a:t>
            </a:r>
            <a:r>
              <a:rPr lang="en-US" dirty="0"/>
              <a:t>-based </a:t>
            </a:r>
            <a:r>
              <a:rPr lang="en-US" dirty="0" err="1"/>
              <a:t>conda</a:t>
            </a:r>
            <a:r>
              <a:rPr lang="en-US" dirty="0"/>
              <a:t> environment.</a:t>
            </a:r>
          </a:p>
          <a:p>
            <a:pPr lvl="2"/>
            <a:endParaRPr lang="en-US" b="1" dirty="0"/>
          </a:p>
          <a:p>
            <a:r>
              <a:rPr lang="en-US" dirty="0"/>
              <a:t>Choose 4-8 cores and 1 GPU when using a GPU</a:t>
            </a:r>
          </a:p>
          <a:p>
            <a:pPr lvl="1"/>
            <a:r>
              <a:rPr lang="en-US" dirty="0"/>
              <a:t>4 is usually plenty</a:t>
            </a:r>
          </a:p>
          <a:p>
            <a:pPr lvl="1"/>
            <a:r>
              <a:rPr lang="en-US" dirty="0"/>
              <a:t>Request just 1 GPU</a:t>
            </a:r>
          </a:p>
          <a:p>
            <a:r>
              <a:rPr lang="en-US" dirty="0"/>
              <a:t>For CPU-only, choose 4 or 8 cores.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B6E2BF-EDDC-C47C-C223-322892F888E9}"/>
              </a:ext>
            </a:extLst>
          </p:cNvPr>
          <p:cNvCxnSpPr>
            <a:cxnSpLocks/>
          </p:cNvCxnSpPr>
          <p:nvPr/>
        </p:nvCxnSpPr>
        <p:spPr bwMode="auto">
          <a:xfrm flipV="1">
            <a:off x="4980562" y="1060450"/>
            <a:ext cx="2800355" cy="10309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DFA03B-C997-38F7-952E-FF52C43386B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64608" y="1645920"/>
            <a:ext cx="2916309" cy="14996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F782FB3-4DAD-1476-6F3B-A32A5029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17" y="0"/>
            <a:ext cx="2678817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14364A-4A64-EFB8-CE1B-0E7DDD66BB62}"/>
              </a:ext>
            </a:extLst>
          </p:cNvPr>
          <p:cNvSpPr txBox="1"/>
          <p:nvPr/>
        </p:nvSpPr>
        <p:spPr>
          <a:xfrm>
            <a:off x="7863840" y="5576054"/>
            <a:ext cx="601447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+mn-lt"/>
              </a:rPr>
              <a:t>ds542</a:t>
            </a:r>
          </a:p>
        </p:txBody>
      </p:sp>
    </p:spTree>
    <p:extLst>
      <p:ext uri="{BB962C8B-B14F-4D97-AF65-F5344CB8AC3E}">
        <p14:creationId xmlns:p14="http://schemas.microsoft.com/office/powerpoint/2010/main" val="130642473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8F1E-9B3A-3CE8-0842-9D06750F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OnDemand VS Code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CEF1-7272-C0AA-542B-29334E83D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643866"/>
            <a:ext cx="4992099" cy="3886200"/>
          </a:xfrm>
        </p:spPr>
        <p:txBody>
          <a:bodyPr/>
          <a:lstStyle/>
          <a:p>
            <a:r>
              <a:rPr lang="en-US" sz="1800" dirty="0"/>
              <a:t>Code Server is open source, based on Microsoft VS Code, it runs in your browser.</a:t>
            </a:r>
          </a:p>
          <a:p>
            <a:endParaRPr lang="en-US" sz="1800" dirty="0"/>
          </a:p>
          <a:p>
            <a:r>
              <a:rPr lang="en-US" sz="1800" dirty="0"/>
              <a:t>Same setup options as </a:t>
            </a:r>
            <a:r>
              <a:rPr lang="en-US" sz="1800" dirty="0" err="1"/>
              <a:t>Jupyter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dirty="0"/>
              <a:t>Important</a:t>
            </a:r>
            <a:r>
              <a:rPr lang="en-US" sz="1800" dirty="0"/>
              <a:t>: the Code Server extension marketplace is </a:t>
            </a:r>
            <a:r>
              <a:rPr lang="en-US" sz="1800" b="1" dirty="0"/>
              <a:t>NOT</a:t>
            </a:r>
            <a:r>
              <a:rPr lang="en-US" sz="1800" dirty="0"/>
              <a:t> the Microsoft one you see with VS Code on your laptop.</a:t>
            </a:r>
          </a:p>
          <a:p>
            <a:pPr lvl="1"/>
            <a:r>
              <a:rPr lang="en-US" sz="1400" dirty="0"/>
              <a:t>Practically speaking, this means that </a:t>
            </a:r>
            <a:r>
              <a:rPr lang="en-US" sz="1400" dirty="0" err="1"/>
              <a:t>Github</a:t>
            </a:r>
            <a:r>
              <a:rPr lang="en-US" sz="1400" dirty="0"/>
              <a:t> Copilot is not available.</a:t>
            </a:r>
          </a:p>
          <a:p>
            <a:pPr marL="457200" lvl="1" indent="0">
              <a:buNone/>
            </a:pPr>
            <a:endParaRPr lang="en-US" sz="14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18FFE-0E5F-575E-8C3B-A8B61AD47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778" y="0"/>
            <a:ext cx="3103228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FF6A57-C34A-D93F-9A5D-050443027CFE}"/>
              </a:ext>
            </a:extLst>
          </p:cNvPr>
          <p:cNvCxnSpPr>
            <a:cxnSpLocks/>
          </p:cNvCxnSpPr>
          <p:nvPr/>
        </p:nvCxnSpPr>
        <p:spPr bwMode="auto">
          <a:xfrm flipV="1">
            <a:off x="4511223" y="2013626"/>
            <a:ext cx="3169555" cy="711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E884E3-F29D-FFE7-6FAE-A01DD457DFD3}"/>
              </a:ext>
            </a:extLst>
          </p:cNvPr>
          <p:cNvCxnSpPr>
            <a:cxnSpLocks/>
          </p:cNvCxnSpPr>
          <p:nvPr/>
        </p:nvCxnSpPr>
        <p:spPr bwMode="auto">
          <a:xfrm>
            <a:off x="4511223" y="2725298"/>
            <a:ext cx="2954653" cy="8431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4641F9-4E78-EAE0-0AA1-39002424C9D4}"/>
              </a:ext>
            </a:extLst>
          </p:cNvPr>
          <p:cNvSpPr txBox="1"/>
          <p:nvPr/>
        </p:nvSpPr>
        <p:spPr>
          <a:xfrm>
            <a:off x="7763256" y="5323320"/>
            <a:ext cx="601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n-lt"/>
              </a:rPr>
              <a:t>ds542</a:t>
            </a:r>
          </a:p>
        </p:txBody>
      </p:sp>
    </p:spTree>
    <p:extLst>
      <p:ext uri="{BB962C8B-B14F-4D97-AF65-F5344CB8AC3E}">
        <p14:creationId xmlns:p14="http://schemas.microsoft.com/office/powerpoint/2010/main" val="16798781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0A64-766A-4341-83E4-E954D293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OnDemand – start a Desktop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6839D-F5BD-4B81-834D-24DA88ED1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824" y="1545336"/>
            <a:ext cx="5880608" cy="4425696"/>
          </a:xfrm>
        </p:spPr>
        <p:txBody>
          <a:bodyPr/>
          <a:lstStyle/>
          <a:p>
            <a:r>
              <a:rPr lang="en-US" dirty="0"/>
              <a:t>Same setup for the number of hours, cores, and GPUs as the other two.</a:t>
            </a:r>
          </a:p>
          <a:p>
            <a:r>
              <a:rPr lang="en-US" dirty="0"/>
              <a:t>To activate the </a:t>
            </a:r>
            <a:r>
              <a:rPr lang="en-US" dirty="0" err="1"/>
              <a:t>PyTorch</a:t>
            </a:r>
            <a:r>
              <a:rPr lang="en-US" dirty="0"/>
              <a:t> environment execute this in a terminal: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activate fall-2025-pyt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F17B64-2A17-5136-5B68-B26456F3AC00}"/>
              </a:ext>
            </a:extLst>
          </p:cNvPr>
          <p:cNvCxnSpPr>
            <a:cxnSpLocks/>
          </p:cNvCxnSpPr>
          <p:nvPr/>
        </p:nvCxnSpPr>
        <p:spPr bwMode="auto">
          <a:xfrm>
            <a:off x="6556248" y="2715768"/>
            <a:ext cx="1947672" cy="7132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CDBF7F8-ABB4-95A7-8068-CCFB4A525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20" y="0"/>
            <a:ext cx="3354939" cy="685800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E14C31-7D1F-619E-FFF1-53FC45EC293C}"/>
              </a:ext>
            </a:extLst>
          </p:cNvPr>
          <p:cNvSpPr txBox="1">
            <a:spLocks/>
          </p:cNvSpPr>
          <p:nvPr/>
        </p:nvSpPr>
        <p:spPr bwMode="auto">
          <a:xfrm>
            <a:off x="150341" y="4672584"/>
            <a:ext cx="4554728" cy="12984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kern="0" dirty="0"/>
              <a:t>To run genuine Microsoft VS Code: </a:t>
            </a:r>
          </a:p>
          <a:p>
            <a:pPr lvl="1"/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module load </a:t>
            </a:r>
            <a:r>
              <a:rPr lang="en-US" sz="18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vscode</a:t>
            </a:r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/1.99.2</a:t>
            </a:r>
          </a:p>
          <a:p>
            <a:pPr lvl="1"/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endParaRPr lang="en-US" sz="1800" kern="0" dirty="0"/>
          </a:p>
          <a:p>
            <a:pPr marL="0" indent="0">
              <a:buFont typeface="Wingdings" pitchFamily="2" charset="2"/>
              <a:buNone/>
            </a:pPr>
            <a:endParaRPr lang="en-US" kern="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80D6BF1-1F59-43C4-38AB-BCCB21767E7F}"/>
              </a:ext>
            </a:extLst>
          </p:cNvPr>
          <p:cNvSpPr txBox="1">
            <a:spLocks/>
          </p:cNvSpPr>
          <p:nvPr/>
        </p:nvSpPr>
        <p:spPr bwMode="auto">
          <a:xfrm>
            <a:off x="4898563" y="4672584"/>
            <a:ext cx="3354939" cy="151485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kern="0" dirty="0"/>
              <a:t>To run </a:t>
            </a:r>
            <a:r>
              <a:rPr lang="en-US" sz="2000" kern="0" dirty="0" err="1"/>
              <a:t>Jupyter</a:t>
            </a:r>
            <a:r>
              <a:rPr lang="en-US" sz="2000" kern="0" dirty="0"/>
              <a:t>:</a:t>
            </a:r>
          </a:p>
          <a:p>
            <a:pPr lvl="1"/>
            <a:r>
              <a:rPr lang="en-US" sz="18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notebook</a:t>
            </a:r>
          </a:p>
          <a:p>
            <a:pPr lvl="1"/>
            <a:r>
              <a:rPr lang="en-US" sz="1800" kern="0" dirty="0"/>
              <a:t>OR</a:t>
            </a:r>
          </a:p>
          <a:p>
            <a:pPr lvl="1"/>
            <a:r>
              <a:rPr lang="en-US" sz="18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lab</a:t>
            </a:r>
            <a:br>
              <a:rPr lang="en-US" sz="1800" kern="0" dirty="0"/>
            </a:br>
            <a:endParaRPr lang="en-US" sz="1800" kern="0" dirty="0"/>
          </a:p>
          <a:p>
            <a:pPr lvl="1"/>
            <a:endParaRPr lang="en-US" sz="1800" kern="0" dirty="0"/>
          </a:p>
          <a:p>
            <a:pPr marL="0" indent="0">
              <a:buFont typeface="Wingdings" pitchFamily="2" charset="2"/>
              <a:buNone/>
            </a:pPr>
            <a:endParaRPr lang="en-US" kern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E3E0A3-3537-6300-ED8B-F98AC679D879}"/>
              </a:ext>
            </a:extLst>
          </p:cNvPr>
          <p:cNvSpPr txBox="1"/>
          <p:nvPr/>
        </p:nvSpPr>
        <p:spPr>
          <a:xfrm>
            <a:off x="8778240" y="5183308"/>
            <a:ext cx="60144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n-lt"/>
              </a:rPr>
              <a:t>ds542</a:t>
            </a:r>
          </a:p>
        </p:txBody>
      </p:sp>
    </p:spTree>
    <p:extLst>
      <p:ext uri="{BB962C8B-B14F-4D97-AF65-F5344CB8AC3E}">
        <p14:creationId xmlns:p14="http://schemas.microsoft.com/office/powerpoint/2010/main" val="17231217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S and T 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"/>
      </a:majorFont>
      <a:minorFont>
        <a:latin typeface="Arial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-64" charset="0"/>
            <a:ea typeface="Osaka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-64" charset="0"/>
            <a:ea typeface="Osaka" pitchFamily="-64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dirty="0" smtClean="0">
            <a:latin typeface="+mn-lt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S and T Theme" id="{79BA2A39-EFE9-4FDA-938F-E33E51A20145}" vid="{B80829E0-25F2-42FB-8ACD-E75D242045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 and T Theme</Template>
  <TotalTime>37260</TotalTime>
  <Words>480</Words>
  <Application>Microsoft Office PowerPoint</Application>
  <PresentationFormat>Widescreen</PresentationFormat>
  <Paragraphs>86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Times</vt:lpstr>
      <vt:lpstr>Wingdings</vt:lpstr>
      <vt:lpstr>IS and T Theme</vt:lpstr>
      <vt:lpstr>Custom Design</vt:lpstr>
      <vt:lpstr>Using the SCC   </vt:lpstr>
      <vt:lpstr>BU Shared Computing Cluster (SCC)</vt:lpstr>
      <vt:lpstr>SCC Access</vt:lpstr>
      <vt:lpstr>PowerPoint Presentation</vt:lpstr>
      <vt:lpstr>Links to RCS Documentation</vt:lpstr>
      <vt:lpstr>OnDemand Jupyter</vt:lpstr>
      <vt:lpstr>OnDemand VS Code Server</vt:lpstr>
      <vt:lpstr>OnDemand – start a Desktop Session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C++: Part 1</dc:title>
  <dc:creator>Gregor, Brian</dc:creator>
  <cp:lastModifiedBy>Gregor, Brian</cp:lastModifiedBy>
  <cp:revision>335</cp:revision>
  <dcterms:created xsi:type="dcterms:W3CDTF">2016-09-19T16:42:28Z</dcterms:created>
  <dcterms:modified xsi:type="dcterms:W3CDTF">2026-01-15T21:21:35Z</dcterms:modified>
</cp:coreProperties>
</file>